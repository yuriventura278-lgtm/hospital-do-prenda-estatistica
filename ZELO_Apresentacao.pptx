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yuriventura278-lgtm.github.io/hospital-do-prenda-estatistica/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l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487" y="100584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14600"/>
            <a:ext cx="1036015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ZELO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2D3EE"/>
                </a:solidFill>
                <a:latin typeface="Calibri"/>
              </a:rPr>
              <a:t>Sistema de Zelo Estatístico e Levantamento de Ocorrências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98567" y="4069080"/>
            <a:ext cx="2194560" cy="25400"/>
          </a:xfrm>
          <a:prstGeom prst="rect">
            <a:avLst/>
          </a:prstGeom>
          <a:solidFill>
            <a:srgbClr val="2A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AEC0E0"/>
                </a:solidFill>
                <a:latin typeface="Calibri"/>
              </a:rPr>
              <a:t>Apresentação do sistema de recolha de dados
para maior produtividade nos serviços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88B0"/>
                </a:solidFill>
                <a:latin typeface="Calibri"/>
              </a:rPr>
              <a:t>Hospital do Prenda · Luanda, Angola  ·  Duração: até 10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O que é o ZELO?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EC0E0"/>
                </a:solidFill>
                <a:latin typeface="Calibri"/>
              </a:rPr>
              <a:t>Um sistema único de recolha de dados para todo o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288B0"/>
                </a:solidFill>
                <a:latin typeface="Calibri"/>
              </a:rPr>
              <a:t>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A56DB"/>
                </a:solidFill>
                <a:latin typeface="Calibri"/>
              </a:rPr>
              <a:t>•  </a:t>
            </a:r>
            <a:r>
              <a:rPr sz="1600" b="1">
                <a:solidFill>
                  <a:srgbClr val="0F172A"/>
                </a:solidFill>
                <a:latin typeface="Calibri"/>
              </a:rPr>
              <a:t>Um só sistema, todos os serviços. </a:t>
            </a:r>
            <a:r>
              <a:rPr sz="1600">
                <a:solidFill>
                  <a:srgbClr val="0F172A"/>
                </a:solidFill>
                <a:latin typeface="Calibri"/>
              </a:rPr>
              <a:t>Banco/registo diário, Procedimentos de Enfermagem, Laboratório, Bloco Operatório, Imagiologia, Movimento Hospitalar e Estatística — tudo num único lugar.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A56DB"/>
                </a:solidFill>
                <a:latin typeface="Calibri"/>
              </a:rPr>
              <a:t>•  </a:t>
            </a:r>
            <a:r>
              <a:rPr sz="1600" b="1">
                <a:solidFill>
                  <a:srgbClr val="0F172A"/>
                </a:solidFill>
                <a:latin typeface="Calibri"/>
              </a:rPr>
              <a:t>Acesso de qualquer computador ou telemóvel. </a:t>
            </a:r>
            <a:r>
              <a:rPr sz="1600">
                <a:solidFill>
                  <a:srgbClr val="0F172A"/>
                </a:solidFill>
                <a:latin typeface="Calibri"/>
              </a:rPr>
              <a:t>Sem instalar nada — basta abrir o link do sistema.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A56DB"/>
                </a:solidFill>
                <a:latin typeface="Calibri"/>
              </a:rPr>
              <a:t>•  </a:t>
            </a:r>
            <a:r>
              <a:rPr sz="1600" b="1">
                <a:solidFill>
                  <a:srgbClr val="0F172A"/>
                </a:solidFill>
                <a:latin typeface="Calibri"/>
              </a:rPr>
              <a:t>Substitui papel e Excel disperso. </a:t>
            </a:r>
            <a:r>
              <a:rPr sz="1600">
                <a:solidFill>
                  <a:srgbClr val="0F172A"/>
                </a:solidFill>
                <a:latin typeface="Calibri"/>
              </a:rPr>
              <a:t>Cada serviço deixa de depender de folhas soltas ou ficheiros que só existem num computador.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A56DB"/>
                </a:solidFill>
                <a:latin typeface="Calibri"/>
              </a:rPr>
              <a:t>•  </a:t>
            </a:r>
            <a:r>
              <a:rPr sz="1600" b="1">
                <a:solidFill>
                  <a:srgbClr val="0F172A"/>
                </a:solidFill>
                <a:latin typeface="Calibri"/>
              </a:rPr>
              <a:t>Cálculos automáticos. </a:t>
            </a:r>
            <a:r>
              <a:rPr sz="1600">
                <a:solidFill>
                  <a:srgbClr val="0F172A"/>
                </a:solidFill>
                <a:latin typeface="Calibri"/>
              </a:rPr>
              <a:t>O sistema soma, valida e organiza os dados — o utilizador só regista o que aconteceu no serviço.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66640" y="1888800"/>
            <a:ext cx="4206240" cy="270401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76640" y="1798800"/>
            <a:ext cx="4266240" cy="276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28800"/>
            <a:ext cx="4206240" cy="2704011"/>
          </a:xfrm>
          <a:prstGeom prst="rect">
            <a:avLst/>
          </a:prstGeom>
        </p:spPr>
      </p:pic>
      <p:pic>
        <p:nvPicPr>
          <p:cNvPr id="9" name="Picture 8" descr="zel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6355080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ZELO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1215" y="6355080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288B0"/>
                </a:solidFill>
                <a:latin typeface="Calibri"/>
              </a:rPr>
              <a:t>Hospital do Prenda · Luanda, Angola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Vantagens para a produtividade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EC0E0"/>
                </a:solidFill>
                <a:latin typeface="Calibri"/>
              </a:rPr>
              <a:t>O que muda no dia a dia dos serviços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288B0"/>
                </a:solidFill>
                <a:latin typeface="Calibri"/>
              </a:rPr>
              <a:t>3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1A56DB"/>
                </a:solidFill>
                <a:latin typeface="Calibri"/>
              </a:rPr>
              <a:t>•  </a:t>
            </a:r>
            <a:r>
              <a:rPr sz="1700" b="1">
                <a:solidFill>
                  <a:srgbClr val="0F172A"/>
                </a:solidFill>
                <a:latin typeface="Calibri"/>
              </a:rPr>
              <a:t>Menos tempo a preencher e a recalcular. </a:t>
            </a:r>
            <a:r>
              <a:rPr sz="1700">
                <a:solidFill>
                  <a:srgbClr val="0F172A"/>
                </a:solidFill>
                <a:latin typeface="Calibri"/>
              </a:rPr>
              <a:t>os totais aparecem sozinhos.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1A56DB"/>
                </a:solidFill>
                <a:latin typeface="Calibri"/>
              </a:rPr>
              <a:t>•  </a:t>
            </a:r>
            <a:r>
              <a:rPr sz="1700" b="1">
                <a:solidFill>
                  <a:srgbClr val="0F172A"/>
                </a:solidFill>
                <a:latin typeface="Calibri"/>
              </a:rPr>
              <a:t>Menos erros de soma e transcrição. </a:t>
            </a:r>
            <a:r>
              <a:rPr sz="1700">
                <a:solidFill>
                  <a:srgbClr val="0F172A"/>
                </a:solidFill>
                <a:latin typeface="Calibri"/>
              </a:rPr>
              <a:t>as fórmulas são sempre as mesmas, para todos os serviços.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1A56DB"/>
                </a:solidFill>
                <a:latin typeface="Calibri"/>
              </a:rPr>
              <a:t>•  </a:t>
            </a:r>
            <a:r>
              <a:rPr sz="1700" b="1">
                <a:solidFill>
                  <a:srgbClr val="0F172A"/>
                </a:solidFill>
                <a:latin typeface="Calibri"/>
              </a:rPr>
              <a:t>Dados sempre disponíveis. </a:t>
            </a:r>
            <a:r>
              <a:rPr sz="1700">
                <a:solidFill>
                  <a:srgbClr val="0F172A"/>
                </a:solidFill>
                <a:latin typeface="Calibri"/>
              </a:rPr>
              <a:t>com histórico organizado por dia e por mês.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1A56DB"/>
                </a:solidFill>
                <a:latin typeface="Calibri"/>
              </a:rPr>
              <a:t>•  </a:t>
            </a:r>
            <a:r>
              <a:rPr sz="1700" b="1">
                <a:solidFill>
                  <a:srgbClr val="0F172A"/>
                </a:solidFill>
                <a:latin typeface="Calibri"/>
              </a:rPr>
              <a:t>PDF pronto em segundos. </a:t>
            </a:r>
            <a:r>
              <a:rPr sz="1700">
                <a:solidFill>
                  <a:srgbClr val="0F172A"/>
                </a:solidFill>
                <a:latin typeface="Calibri"/>
              </a:rPr>
              <a:t>para imprimir ou arquivar, sem montar documentos à mão.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1A56DB"/>
                </a:solidFill>
                <a:latin typeface="Calibri"/>
              </a:rPr>
              <a:t>•  </a:t>
            </a:r>
            <a:r>
              <a:rPr sz="1700" b="1">
                <a:solidFill>
                  <a:srgbClr val="0F172A"/>
                </a:solidFill>
                <a:latin typeface="Calibri"/>
              </a:rPr>
              <a:t>Envio direto por WhatsApp e Email. </a:t>
            </a:r>
            <a:r>
              <a:rPr sz="1700">
                <a:solidFill>
                  <a:srgbClr val="0F172A"/>
                </a:solidFill>
                <a:latin typeface="Calibri"/>
              </a:rPr>
              <a:t>sem sair do sistema nem recolher folhas fisicamente.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1A56DB"/>
                </a:solidFill>
                <a:latin typeface="Calibri"/>
              </a:rPr>
              <a:t>•  </a:t>
            </a:r>
            <a:r>
              <a:rPr sz="1700" b="1">
                <a:solidFill>
                  <a:srgbClr val="0F172A"/>
                </a:solidFill>
                <a:latin typeface="Calibri"/>
              </a:rPr>
              <a:t>Acesso em qualquer lugar. </a:t>
            </a:r>
            <a:r>
              <a:rPr sz="1700">
                <a:solidFill>
                  <a:srgbClr val="0F172A"/>
                </a:solidFill>
                <a:latin typeface="Calibri"/>
              </a:rPr>
              <a:t>com o mesmo aparelho ou outro qualquer, sem perder os dados.</a:t>
            </a:r>
          </a:p>
        </p:txBody>
      </p:sp>
      <p:pic>
        <p:nvPicPr>
          <p:cNvPr id="6" name="Picture 5" descr="zel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6355080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ZELO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1215" y="6355080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288B0"/>
                </a:solidFill>
                <a:latin typeface="Calibri"/>
              </a:rPr>
              <a:t>Hospital do Prenda · Luanda, Angola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Internamento em foco: Ortopedia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EC0E0"/>
                </a:solidFill>
                <a:latin typeface="Calibri"/>
              </a:rPr>
              <a:t>O que o ZELO faz por um serviço de internamento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288B0"/>
                </a:solidFill>
                <a:latin typeface="Calibri"/>
              </a:rPr>
              <a:t>4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A56DB"/>
                </a:solidFill>
                <a:latin typeface="Calibri"/>
              </a:rPr>
              <a:t>•  </a:t>
            </a:r>
            <a:r>
              <a:rPr sz="1600" b="1">
                <a:solidFill>
                  <a:srgbClr val="0F172A"/>
                </a:solidFill>
                <a:latin typeface="Calibri"/>
              </a:rPr>
              <a:t>Banco diário. </a:t>
            </a:r>
            <a:r>
              <a:rPr sz="1600">
                <a:solidFill>
                  <a:srgbClr val="0F172A"/>
                </a:solidFill>
                <a:latin typeface="Calibri"/>
              </a:rPr>
              <a:t>equipa de serviço, pacientes observados e resultado do turno, tudo num só formulário.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A56DB"/>
                </a:solidFill>
                <a:latin typeface="Calibri"/>
              </a:rPr>
              <a:t>•  </a:t>
            </a:r>
            <a:r>
              <a:rPr sz="1600" b="1">
                <a:solidFill>
                  <a:srgbClr val="0F172A"/>
                </a:solidFill>
                <a:latin typeface="Calibri"/>
              </a:rPr>
              <a:t>Procedimentos de Enfermagem. </a:t>
            </a:r>
            <a:r>
              <a:rPr sz="1600">
                <a:solidFill>
                  <a:srgbClr val="0F172A"/>
                </a:solidFill>
                <a:latin typeface="Calibri"/>
              </a:rPr>
              <a:t>registo por turno (Dia/Noite), com resumo automático.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A56DB"/>
                </a:solidFill>
                <a:latin typeface="Calibri"/>
              </a:rPr>
              <a:t>•  </a:t>
            </a:r>
            <a:r>
              <a:rPr sz="1600" b="1">
                <a:solidFill>
                  <a:srgbClr val="0F172A"/>
                </a:solidFill>
                <a:latin typeface="Calibri"/>
              </a:rPr>
              <a:t>Movimento Mensal. </a:t>
            </a:r>
            <a:r>
              <a:rPr sz="1600">
                <a:solidFill>
                  <a:srgbClr val="0F172A"/>
                </a:solidFill>
                <a:latin typeface="Calibri"/>
              </a:rPr>
              <a:t>existência, admissões, altas e saídas calculadas dia a dia, como no modelo oficial.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A56DB"/>
                </a:solidFill>
                <a:latin typeface="Calibri"/>
              </a:rPr>
              <a:t>•  </a:t>
            </a:r>
            <a:r>
              <a:rPr sz="1600" b="1">
                <a:solidFill>
                  <a:srgbClr val="0F172A"/>
                </a:solidFill>
                <a:latin typeface="Calibri"/>
              </a:rPr>
              <a:t>Mesmo modelo, para todos os serviços de internamento. </a:t>
            </a:r>
            <a:r>
              <a:rPr sz="1600">
                <a:solidFill>
                  <a:srgbClr val="0F172A"/>
                </a:solidFill>
                <a:latin typeface="Calibri"/>
              </a:rPr>
              <a:t>Nefrologia, UCI, Medicina Interna, Neurocirurgia, e outros.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66640" y="1843080"/>
            <a:ext cx="4206240" cy="270401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76640" y="1753080"/>
            <a:ext cx="4266240" cy="276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servi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3080"/>
            <a:ext cx="4206240" cy="2704011"/>
          </a:xfrm>
          <a:prstGeom prst="rect">
            <a:avLst/>
          </a:prstGeom>
        </p:spPr>
      </p:pic>
      <p:pic>
        <p:nvPicPr>
          <p:cNvPr id="9" name="Picture 8" descr="zel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6355080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ZELO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1215" y="6355080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288B0"/>
                </a:solidFill>
                <a:latin typeface="Calibri"/>
              </a:rPr>
              <a:t>Hospital do Prenda · Luanda, Angola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Do preenchimento manual ao automático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EC0E0"/>
                </a:solidFill>
                <a:latin typeface="Calibri"/>
              </a:rPr>
              <a:t>O Banco de Ortopedia deixa de ser em papel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288B0"/>
                </a:solidFill>
                <a:latin typeface="Calibri"/>
              </a:rPr>
              <a:t>5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80" y="1843080"/>
            <a:ext cx="5120640" cy="3291840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080" y="1753080"/>
            <a:ext cx="5180640" cy="335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_banco_ortope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12064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1874519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1A56DB"/>
                </a:solidFill>
                <a:latin typeface="Calibri"/>
              </a:rPr>
              <a:t>•  </a:t>
            </a:r>
            <a:r>
              <a:rPr sz="1550" b="1">
                <a:solidFill>
                  <a:srgbClr val="0F172A"/>
                </a:solidFill>
                <a:latin typeface="Calibri"/>
              </a:rPr>
              <a:t>Antes: </a:t>
            </a:r>
            <a:r>
              <a:rPr sz="1550">
                <a:solidFill>
                  <a:srgbClr val="0F172A"/>
                </a:solidFill>
                <a:latin typeface="Calibri"/>
              </a:rPr>
              <a:t>papel ou Excel, preenchido à mão, cálculos manuais e risco de erro em cada turno.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1A56DB"/>
                </a:solidFill>
                <a:latin typeface="Calibri"/>
              </a:rPr>
              <a:t>•  </a:t>
            </a:r>
            <a:r>
              <a:rPr sz="1550" b="1">
                <a:solidFill>
                  <a:srgbClr val="0F172A"/>
                </a:solidFill>
                <a:latin typeface="Calibri"/>
              </a:rPr>
              <a:t>Agora: </a:t>
            </a:r>
            <a:r>
              <a:rPr sz="1550">
                <a:solidFill>
                  <a:srgbClr val="0F172A"/>
                </a:solidFill>
                <a:latin typeface="Calibri"/>
              </a:rPr>
              <a:t>formulário digital, com barra de progresso e campos organizados por secção.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1A56DB"/>
                </a:solidFill>
                <a:latin typeface="Calibri"/>
              </a:rPr>
              <a:t>•  </a:t>
            </a:r>
            <a:r>
              <a:rPr sz="1550" b="1">
                <a:solidFill>
                  <a:srgbClr val="0F172A"/>
                </a:solidFill>
                <a:latin typeface="Calibri"/>
              </a:rPr>
              <a:t>O sistema valida e organiza. </a:t>
            </a:r>
            <a:r>
              <a:rPr sz="1550">
                <a:solidFill>
                  <a:srgbClr val="0F172A"/>
                </a:solidFill>
                <a:latin typeface="Calibri"/>
              </a:rPr>
              <a:t>os dados já ficam prontos para a estatística do hospital, sem retrabalho.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1A56DB"/>
                </a:solidFill>
                <a:latin typeface="Calibri"/>
              </a:rPr>
              <a:t>•  </a:t>
            </a:r>
            <a:r>
              <a:rPr sz="1550" b="1">
                <a:solidFill>
                  <a:srgbClr val="0F172A"/>
                </a:solidFill>
                <a:latin typeface="Calibri"/>
              </a:rPr>
              <a:t>Resultado: </a:t>
            </a:r>
            <a:r>
              <a:rPr sz="1550">
                <a:solidFill>
                  <a:srgbClr val="0F172A"/>
                </a:solidFill>
                <a:latin typeface="Calibri"/>
              </a:rPr>
              <a:t>menos tempo a preencher, mais tempo para o cuidado ao doente.</a:t>
            </a:r>
          </a:p>
        </p:txBody>
      </p:sp>
      <p:pic>
        <p:nvPicPr>
          <p:cNvPr id="9" name="Picture 8" descr="zel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6355080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ZELO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1215" y="6355080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288B0"/>
                </a:solidFill>
                <a:latin typeface="Calibri"/>
              </a:rPr>
              <a:t>Hospital do Prenda · Luanda, Angola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Partilha de informação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EC0E0"/>
                </a:solidFill>
                <a:latin typeface="Calibri"/>
              </a:rPr>
              <a:t>Um clique — sem recolher folhas fisicamente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288B0"/>
                </a:solidFill>
                <a:latin typeface="Calibri"/>
              </a:rPr>
              <a:t>6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A56DB"/>
                </a:solidFill>
                <a:latin typeface="Calibri"/>
              </a:rPr>
              <a:t>•  </a:t>
            </a:r>
            <a:r>
              <a:rPr sz="1600" b="1">
                <a:solidFill>
                  <a:srgbClr val="0F172A"/>
                </a:solidFill>
                <a:latin typeface="Calibri"/>
              </a:rPr>
              <a:t>Visualizar, WhatsApp, Email ou Guardar. </a:t>
            </a:r>
            <a:r>
              <a:rPr sz="1600">
                <a:solidFill>
                  <a:srgbClr val="0F172A"/>
                </a:solidFill>
                <a:latin typeface="Calibri"/>
              </a:rPr>
              <a:t>quatro botões no fundo do ecrã, sempre visíveis.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A56DB"/>
                </a:solidFill>
                <a:latin typeface="Calibri"/>
              </a:rPr>
              <a:t>•  </a:t>
            </a:r>
            <a:r>
              <a:rPr sz="1600" b="1">
                <a:solidFill>
                  <a:srgbClr val="0F172A"/>
                </a:solidFill>
                <a:latin typeface="Calibri"/>
              </a:rPr>
              <a:t>O Departamento de Estatística recebe os dados </a:t>
            </a:r>
            <a:r>
              <a:rPr sz="1600">
                <a:solidFill>
                  <a:srgbClr val="0F172A"/>
                </a:solidFill>
                <a:latin typeface="Calibri"/>
              </a:rPr>
              <a:t>assim que o serviço termina o registo — sem esperar pela recolha física das folhas.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A56DB"/>
                </a:solidFill>
                <a:latin typeface="Calibri"/>
              </a:rPr>
              <a:t>•  </a:t>
            </a:r>
            <a:r>
              <a:rPr sz="1600" b="1">
                <a:solidFill>
                  <a:srgbClr val="0F172A"/>
                </a:solidFill>
                <a:latin typeface="Calibri"/>
              </a:rPr>
              <a:t>Toda a informação centralizada. </a:t>
            </a:r>
            <a:r>
              <a:rPr sz="1600">
                <a:solidFill>
                  <a:srgbClr val="0F172A"/>
                </a:solidFill>
                <a:latin typeface="Calibri"/>
              </a:rPr>
              <a:t>sem duplicar trabalho entre o serviço, a enfermagem e a estatística.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A56DB"/>
                </a:solidFill>
                <a:latin typeface="Calibri"/>
              </a:rPr>
              <a:t>•  </a:t>
            </a:r>
            <a:r>
              <a:rPr sz="1600" b="1">
                <a:solidFill>
                  <a:srgbClr val="0F172A"/>
                </a:solidFill>
                <a:latin typeface="Calibri"/>
              </a:rPr>
              <a:t>Menos deslocações, menos atrasos. </a:t>
            </a:r>
            <a:r>
              <a:rPr sz="1600">
                <a:solidFill>
                  <a:srgbClr val="0F172A"/>
                </a:solidFill>
                <a:latin typeface="Calibri"/>
              </a:rPr>
              <a:t>a informação viaja instantaneamente entre quem regista e quem decide.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66640" y="1843080"/>
            <a:ext cx="4206240" cy="270401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76640" y="1753080"/>
            <a:ext cx="4266240" cy="276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banco_ortope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3080"/>
            <a:ext cx="4206240" cy="2704011"/>
          </a:xfrm>
          <a:prstGeom prst="rect">
            <a:avLst/>
          </a:prstGeom>
        </p:spPr>
      </p:pic>
      <p:pic>
        <p:nvPicPr>
          <p:cNvPr id="9" name="Picture 8" descr="zel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6355080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ZELO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1215" y="6355080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288B0"/>
                </a:solidFill>
                <a:latin typeface="Calibri"/>
              </a:rPr>
              <a:t>Hospital do Prenda · Luanda, Angola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Procedimentos de Enfermagem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EC0E0"/>
                </a:solidFill>
                <a:latin typeface="Calibri"/>
              </a:rPr>
              <a:t>Exemplo: Ortopedia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288B0"/>
                </a:solidFill>
                <a:latin typeface="Calibri"/>
              </a:rPr>
              <a:t>7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80" y="1843080"/>
            <a:ext cx="5120640" cy="3291840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080" y="1753080"/>
            <a:ext cx="5180640" cy="335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_enf_ortope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12064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1874519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1A56DB"/>
                </a:solidFill>
                <a:latin typeface="Calibri"/>
              </a:rPr>
              <a:t>•  </a:t>
            </a:r>
            <a:r>
              <a:rPr sz="1550" b="1">
                <a:solidFill>
                  <a:srgbClr val="0F172A"/>
                </a:solidFill>
                <a:latin typeface="Calibri"/>
              </a:rPr>
              <a:t>Registo diário por turno. </a:t>
            </a:r>
            <a:r>
              <a:rPr sz="1550">
                <a:solidFill>
                  <a:srgbClr val="0F172A"/>
                </a:solidFill>
                <a:latin typeface="Calibri"/>
              </a:rPr>
              <a:t>Dia e Noite, com responsável identificado em cada um.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1A56DB"/>
                </a:solidFill>
                <a:latin typeface="Calibri"/>
              </a:rPr>
              <a:t>•  </a:t>
            </a:r>
            <a:r>
              <a:rPr sz="1550" b="1">
                <a:solidFill>
                  <a:srgbClr val="0F172A"/>
                </a:solidFill>
                <a:latin typeface="Calibri"/>
              </a:rPr>
              <a:t>Alerta automático de dias em falta. </a:t>
            </a:r>
            <a:r>
              <a:rPr sz="1550">
                <a:solidFill>
                  <a:srgbClr val="0F172A"/>
                </a:solidFill>
                <a:latin typeface="Calibri"/>
              </a:rPr>
              <a:t>o sistema avisa se algum dia não foi registado — nada fica esquecido.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1A56DB"/>
                </a:solidFill>
                <a:latin typeface="Calibri"/>
              </a:rPr>
              <a:t>•  </a:t>
            </a:r>
            <a:r>
              <a:rPr sz="1550" b="1">
                <a:solidFill>
                  <a:srgbClr val="0F172A"/>
                </a:solidFill>
                <a:latin typeface="Calibri"/>
              </a:rPr>
              <a:t>Resumo do dia. </a:t>
            </a:r>
            <a:r>
              <a:rPr sz="1550">
                <a:solidFill>
                  <a:srgbClr val="0F172A"/>
                </a:solidFill>
                <a:latin typeface="Calibri"/>
              </a:rPr>
              <a:t>totais de Dia, Noite e Total calculados na hora.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1A56DB"/>
                </a:solidFill>
                <a:latin typeface="Calibri"/>
              </a:rPr>
              <a:t>•  </a:t>
            </a:r>
            <a:r>
              <a:rPr sz="1550" b="1">
                <a:solidFill>
                  <a:srgbClr val="0F172A"/>
                </a:solidFill>
                <a:latin typeface="Calibri"/>
              </a:rPr>
              <a:t>Mesmo modelo de partilha. </a:t>
            </a:r>
            <a:r>
              <a:rPr sz="1550">
                <a:solidFill>
                  <a:srgbClr val="0F172A"/>
                </a:solidFill>
                <a:latin typeface="Calibri"/>
              </a:rPr>
              <a:t>Visualizar, WhatsApp, Email e Guardar, igual ao Banco.</a:t>
            </a:r>
          </a:p>
        </p:txBody>
      </p:sp>
      <p:pic>
        <p:nvPicPr>
          <p:cNvPr id="9" name="Picture 8" descr="zel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6355080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ZELO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1215" y="6355080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288B0"/>
                </a:solidFill>
                <a:latin typeface="Calibri"/>
              </a:rPr>
              <a:t>Hospital do Prenda · Luanda, Angola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Laboratório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EC0E0"/>
                </a:solidFill>
                <a:latin typeface="Calibri"/>
              </a:rPr>
              <a:t>Registo diário de exames, por categoria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288B0"/>
                </a:solidFill>
                <a:latin typeface="Calibri"/>
              </a:rPr>
              <a:t>8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80" y="1843080"/>
            <a:ext cx="5669280" cy="3644537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080" y="1753080"/>
            <a:ext cx="5729280" cy="37045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_laborato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669280" cy="36445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1874519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1A56DB"/>
                </a:solidFill>
                <a:latin typeface="Calibri"/>
              </a:rPr>
              <a:t>•  </a:t>
            </a:r>
            <a:r>
              <a:rPr sz="1550" b="1">
                <a:solidFill>
                  <a:srgbClr val="0F172A"/>
                </a:solidFill>
                <a:latin typeface="Calibri"/>
              </a:rPr>
              <a:t>Exames organizados por categoria. </a:t>
            </a:r>
            <a:r>
              <a:rPr sz="1550">
                <a:solidFill>
                  <a:srgbClr val="0F172A"/>
                </a:solidFill>
                <a:latin typeface="Calibri"/>
              </a:rPr>
              <a:t>Hematologia, Bioquímica, Imunologia, Parasitologia e outras.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1A56DB"/>
                </a:solidFill>
                <a:latin typeface="Calibri"/>
              </a:rPr>
              <a:t>•  </a:t>
            </a:r>
            <a:r>
              <a:rPr sz="1550" b="1">
                <a:solidFill>
                  <a:srgbClr val="0F172A"/>
                </a:solidFill>
                <a:latin typeface="Calibri"/>
              </a:rPr>
              <a:t>Separação automática. </a:t>
            </a:r>
            <a:r>
              <a:rPr sz="1550">
                <a:solidFill>
                  <a:srgbClr val="0F172A"/>
                </a:solidFill>
                <a:latin typeface="Calibri"/>
              </a:rPr>
              <a:t>Banco de Urgência e Internamento, com totais próprios.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1A56DB"/>
                </a:solidFill>
                <a:latin typeface="Calibri"/>
              </a:rPr>
              <a:t>•  </a:t>
            </a:r>
            <a:r>
              <a:rPr sz="1550" b="1">
                <a:solidFill>
                  <a:srgbClr val="0F172A"/>
                </a:solidFill>
                <a:latin typeface="Calibri"/>
              </a:rPr>
              <a:t>Totais em tempo real. </a:t>
            </a:r>
            <a:r>
              <a:rPr sz="1550">
                <a:solidFill>
                  <a:srgbClr val="0F172A"/>
                </a:solidFill>
                <a:latin typeface="Calibri"/>
              </a:rPr>
              <a:t>total de exames e positivos, sempre visíveis no topo.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1A56DB"/>
                </a:solidFill>
                <a:latin typeface="Calibri"/>
              </a:rPr>
              <a:t>•  </a:t>
            </a:r>
            <a:r>
              <a:rPr sz="1550" b="1">
                <a:solidFill>
                  <a:srgbClr val="0F172A"/>
                </a:solidFill>
                <a:latin typeface="Calibri"/>
              </a:rPr>
              <a:t>Relatórios automáticos. </a:t>
            </a:r>
            <a:r>
              <a:rPr sz="1550">
                <a:solidFill>
                  <a:srgbClr val="0F172A"/>
                </a:solidFill>
                <a:latin typeface="Calibri"/>
              </a:rPr>
              <a:t>Mensal, Semanal, Trimestral, Semestral e Anual, gerados pelo próprio sistema.</a:t>
            </a:r>
          </a:p>
        </p:txBody>
      </p:sp>
      <p:pic>
        <p:nvPicPr>
          <p:cNvPr id="9" name="Picture 8" descr="zel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6355080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ZELO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1215" y="6355080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288B0"/>
                </a:solidFill>
                <a:latin typeface="Calibri"/>
              </a:rPr>
              <a:t>Hospital do Prenda · Luanda, Angola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Movimento Hospitalar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EC0E0"/>
                </a:solidFill>
                <a:latin typeface="Calibri"/>
              </a:rPr>
              <a:t>A viagem e a facilidade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288B0"/>
                </a:solidFill>
                <a:latin typeface="Calibri"/>
              </a:rPr>
              <a:t>9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80" y="1843080"/>
            <a:ext cx="5852160" cy="376210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080" y="1753080"/>
            <a:ext cx="5912160" cy="38221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_movi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852160" cy="37621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874519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1A56DB"/>
                </a:solidFill>
                <a:latin typeface="Calibri"/>
              </a:rPr>
              <a:t>•  </a:t>
            </a:r>
            <a:r>
              <a:rPr sz="1550" b="1">
                <a:solidFill>
                  <a:srgbClr val="0F172A"/>
                </a:solidFill>
                <a:latin typeface="Calibri"/>
              </a:rPr>
              <a:t>O mesmo modelo oficial, </a:t>
            </a:r>
            <a:r>
              <a:rPr sz="1550">
                <a:solidFill>
                  <a:srgbClr val="0F172A"/>
                </a:solidFill>
                <a:latin typeface="Calibri"/>
              </a:rPr>
              <a:t>agora em software — sem perder nenhuma fórmula do Excel do Ministério da Saúde.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1A56DB"/>
                </a:solidFill>
                <a:latin typeface="Calibri"/>
              </a:rPr>
              <a:t>•  </a:t>
            </a:r>
            <a:r>
              <a:rPr sz="1550" b="1">
                <a:solidFill>
                  <a:srgbClr val="0F172A"/>
                </a:solidFill>
                <a:latin typeface="Calibri"/>
              </a:rPr>
              <a:t>Cálculo automático dia a dia. </a:t>
            </a:r>
            <a:r>
              <a:rPr sz="1550">
                <a:solidFill>
                  <a:srgbClr val="0F172A"/>
                </a:solidFill>
                <a:latin typeface="Calibri"/>
              </a:rPr>
              <a:t>Existência Anterior, Admitidos, Saídos e Ficam Existindo.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1A56DB"/>
                </a:solidFill>
                <a:latin typeface="Calibri"/>
              </a:rPr>
              <a:t>•  </a:t>
            </a:r>
            <a:r>
              <a:rPr sz="1550" b="1">
                <a:solidFill>
                  <a:srgbClr val="0F172A"/>
                </a:solidFill>
                <a:latin typeface="Calibri"/>
              </a:rPr>
              <a:t>Liga o fim de um mês ao início do seguinte, </a:t>
            </a:r>
            <a:r>
              <a:rPr sz="1550">
                <a:solidFill>
                  <a:srgbClr val="0F172A"/>
                </a:solidFill>
                <a:latin typeface="Calibri"/>
              </a:rPr>
              <a:t>automaticamente — sem copiar valores à mão.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1A56DB"/>
                </a:solidFill>
                <a:latin typeface="Calibri"/>
              </a:rPr>
              <a:t>•  </a:t>
            </a:r>
            <a:r>
              <a:rPr sz="1550" b="1">
                <a:solidFill>
                  <a:srgbClr val="0F172A"/>
                </a:solidFill>
                <a:latin typeface="Calibri"/>
              </a:rPr>
              <a:t>Tabela do mês completa </a:t>
            </a:r>
            <a:r>
              <a:rPr sz="1550">
                <a:solidFill>
                  <a:srgbClr val="0F172A"/>
                </a:solidFill>
                <a:latin typeface="Calibri"/>
              </a:rPr>
              <a:t>e exportação em PDF em segundos.</a:t>
            </a:r>
          </a:p>
        </p:txBody>
      </p:sp>
      <p:pic>
        <p:nvPicPr>
          <p:cNvPr id="9" name="Picture 8" descr="zel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6355080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ZELO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1215" y="6355080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288B0"/>
                </a:solidFill>
                <a:latin typeface="Calibri"/>
              </a:rPr>
              <a:t>Hospital do Prenda · Luanda, Angola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Resumo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EC0E0"/>
                </a:solidFill>
                <a:latin typeface="Calibri"/>
              </a:rPr>
              <a:t>O impacto na produtividade dos serviços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657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288B0"/>
                </a:solidFill>
                <a:latin typeface="Calibri"/>
              </a:rPr>
              <a:t>10 /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307" y="2103120"/>
            <a:ext cx="25603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187" y="2468880"/>
            <a:ext cx="2194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Menos papel, menos erros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187" y="3749039"/>
            <a:ext cx="2194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Cálculos automáticos e sempre corretos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1227" y="2103120"/>
            <a:ext cx="25603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4107" y="2468880"/>
            <a:ext cx="2194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Mais tempo para o doente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4107" y="3749039"/>
            <a:ext cx="2194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Menos tempo perdido a preencher e recalcular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2103120"/>
            <a:ext cx="25603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3027" y="2468880"/>
            <a:ext cx="2194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Dados sempre disponíveis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3027" y="3749039"/>
            <a:ext cx="2194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Histórico organizado, partilhado instantaneamente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9067" y="2103120"/>
            <a:ext cx="25603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10972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1947" y="2468880"/>
            <a:ext cx="2194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Um único sistema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1947" y="3749039"/>
            <a:ext cx="2194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Para todos os serviços do Hospital do Prenda</a:t>
            </a:r>
          </a:p>
        </p:txBody>
      </p:sp>
      <p:pic>
        <p:nvPicPr>
          <p:cNvPr id="21" name="Picture 20" descr="zel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" y="6355080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ZELO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215" y="6355080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288B0"/>
                </a:solidFill>
                <a:latin typeface="Calibri"/>
              </a:rPr>
              <a:t>Hospital do Prenda · Luanda, Angola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l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7" y="59436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91640"/>
            <a:ext cx="103601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AEC0E0"/>
                </a:solidFill>
                <a:latin typeface="Calibri"/>
              </a:rPr>
              <a:t>Aceda diretamente ao sistema ZELO:</a:t>
            </a:r>
          </a:p>
        </p:txBody>
      </p:sp>
      <p:sp>
        <p:nvSpPr>
          <p:cNvPr id="6" name="Rounded Rectangle 5">
            <a:hlinkClick r:id="rId3"/>
          </p:cNvPr>
          <p:cNvSpPr/>
          <p:nvPr/>
        </p:nvSpPr>
        <p:spPr>
          <a:xfrm>
            <a:off x="3718407" y="2880360"/>
            <a:ext cx="4754880" cy="86868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Aceder ao Sistema ZELO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D3EE"/>
                </a:solidFill>
                <a:latin typeface="Calibri"/>
                <a:hlinkClick r:id="rId3"/>
              </a:rPr>
              <a:t>https://yuriventura278-lgtm.github.io/hospital-do-prenda-estatistica/</a:t>
            </a:r>
          </a:p>
        </p:txBody>
      </p:sp>
      <p:pic>
        <p:nvPicPr>
          <p:cNvPr id="8" name="Picture 7" descr="qr_ze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607" y="4526280"/>
            <a:ext cx="1554480" cy="1554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7288B0"/>
                </a:solidFill>
                <a:latin typeface="Calibri"/>
              </a:rPr>
              <a:t>Aponte a câmara do telemóvel para o código para aceder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